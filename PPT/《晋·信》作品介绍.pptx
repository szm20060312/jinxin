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1005840"/>
            <a:ext cx="3291840" cy="13716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晋商票号模拟经营 · 文字策略 Web 游戏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《晋·信》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信以为本 · 汇通天下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26080" y="3474720"/>
            <a:ext cx="3291840" cy="13716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嘉庆十二年 · 始于 1808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4343400"/>
            <a:ext cx="731520" cy="36576"/>
          </a:xfrm>
          <a:prstGeom prst="rect">
            <a:avLst/>
          </a:prstGeom>
          <a:solidFill>
            <a:srgbClr val="962B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背景故事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36576" cy="3657600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5" name="Shape 3"/>
          <p:cNvSpPr/>
          <p:nvPr/>
        </p:nvSpPr>
        <p:spPr>
          <a:xfrm>
            <a:off x="557784" y="1051560"/>
            <a:ext cx="201168" cy="201168"/>
          </a:xfrm>
          <a:prstGeom prst="oval">
            <a:avLst/>
          </a:prstGeom>
          <a:solidFill>
            <a:srgbClr val="962B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987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嘉庆十二年秋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2984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大清帝国由盛转衰，山西平遥的青石板路上，驼铃声与算盘声交织成帝国的金融脉搏。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" y="2011680"/>
            <a:ext cx="201168" cy="201168"/>
          </a:xfrm>
          <a:prstGeom prst="oval">
            <a:avLst/>
          </a:prstGeom>
          <a:solidFill>
            <a:srgbClr val="C4A45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47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你的身份：票号大掌柜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2677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执掌一家中型票号，是这艘金融巨舟的实际掌舵人。东家将万贯家财全权委托于你——你卖的是一张薄薄的汇票，守的是一口气。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292608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2926080"/>
            <a:ext cx="2468880" cy="54864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4712" y="3127248"/>
            <a:ext cx="402336" cy="402336"/>
          </a:xfrm>
          <a:prstGeom prst="oval">
            <a:avLst/>
          </a:prstGeom>
          <a:solidFill>
            <a:srgbClr val="962B2B">
              <a:alpha val="8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36776" y="312724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信为命脉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24712" y="3584448"/>
            <a:ext cx="2139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宁可赔光存银，不可让任何一张真票无法兑付。失信一次，便是灭门之灾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292608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0" y="2926080"/>
            <a:ext cx="2468880" cy="54864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19" name="Shape 17"/>
          <p:cNvSpPr/>
          <p:nvPr/>
        </p:nvSpPr>
        <p:spPr>
          <a:xfrm>
            <a:off x="3822192" y="3127248"/>
            <a:ext cx="402336" cy="402336"/>
          </a:xfrm>
          <a:prstGeom prst="oval">
            <a:avLst/>
          </a:prstGeom>
          <a:solidFill>
            <a:srgbClr val="C4A45A">
              <a:alpha val="8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82219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34256" y="312724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利在长远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22192" y="3584448"/>
            <a:ext cx="2139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不为一锤子买卖。人情积累的厚度远胜一时的高利，生意是做给子孙后代的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292608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2926080"/>
            <a:ext cx="246888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9672" y="3127248"/>
            <a:ext cx="402336" cy="402336"/>
          </a:xfrm>
          <a:prstGeom prst="oval">
            <a:avLst/>
          </a:prstGeom>
          <a:solidFill>
            <a:srgbClr val="2D6A4F">
              <a:alpha val="8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1967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31736" y="312724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庙堂与江湖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19672" y="3584448"/>
            <a:ext cx="2139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票号离不开官府，但绝不可沦为附庸。与巡抚过密，他倒台时你万劫不复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核心玩法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三大核心资源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200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3200400" cy="54864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618488"/>
            <a:ext cx="402336" cy="402336"/>
          </a:xfrm>
          <a:prstGeom prst="oval">
            <a:avLst/>
          </a:prstGeom>
          <a:solidFill>
            <a:srgbClr val="962B2B">
              <a:alpha val="8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18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16736" y="161848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白银 — 流通之血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075688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总号+汉口/张家口两分号库银体系，准备金率、异地调拨、存贷利息差构成收支主干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3200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60320"/>
            <a:ext cx="3200400" cy="54864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2761488"/>
            <a:ext cx="402336" cy="402336"/>
          </a:xfrm>
          <a:prstGeom prst="oval">
            <a:avLst/>
          </a:prstGeom>
          <a:solidFill>
            <a:srgbClr val="C4A45A">
              <a:alpha val="8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16736" y="276148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信誉 — 票号之魂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218688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五级评价，百年积累可毁于一夕拒兑。易毁难建，是游戏中最需守护的核心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3200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03320"/>
            <a:ext cx="32004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" y="3904488"/>
            <a:ext cx="402336" cy="402336"/>
          </a:xfrm>
          <a:prstGeom prst="oval">
            <a:avLst/>
          </a:prstGeom>
          <a:solidFill>
            <a:srgbClr val="2D6A4F">
              <a:alpha val="8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16736" y="390448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人脉 — 无形之网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361688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官府好感、商帮交情、东家信任三维并行。攀附官员获益，他倒台你遭殃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游戏循环 · 六阶段驱动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1490472"/>
            <a:ext cx="292608" cy="292608"/>
          </a:xfrm>
          <a:prstGeom prst="oval">
            <a:avLst/>
          </a:prstGeom>
          <a:solidFill>
            <a:srgbClr val="2C242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490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晨间简报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一览库银/准备金/信誉/密押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82896" y="1920240"/>
            <a:ext cx="18288" cy="164592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2066544"/>
            <a:ext cx="292608" cy="292608"/>
          </a:xfrm>
          <a:prstGeom prst="oval">
            <a:avLst/>
          </a:prstGeom>
          <a:solidFill>
            <a:srgbClr val="2C242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19933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季度决策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银两运营/费率定价/伙友调度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82896" y="2496312"/>
            <a:ext cx="18288" cy="164592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2642616"/>
            <a:ext cx="292608" cy="292608"/>
          </a:xfrm>
          <a:prstGeom prst="oval">
            <a:avLst/>
          </a:prstGeom>
          <a:solidFill>
            <a:srgbClr val="2C2420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25694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经济模拟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27980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后台计算汇兑收入/利息/事件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82896" y="3072384"/>
            <a:ext cx="18288" cy="164592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3218688"/>
            <a:ext cx="292608" cy="292608"/>
          </a:xfrm>
          <a:prstGeom prst="oval">
            <a:avLst/>
          </a:prstGeom>
          <a:solidFill>
            <a:srgbClr val="2C2420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12080" y="31455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事件剧情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12080" y="33741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23+多分支剧本事件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82896" y="3648456"/>
            <a:ext cx="18288" cy="164592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44" name="Shape 42"/>
          <p:cNvSpPr/>
          <p:nvPr/>
        </p:nvSpPr>
        <p:spPr>
          <a:xfrm>
            <a:off x="4754880" y="3794760"/>
            <a:ext cx="292608" cy="292608"/>
          </a:xfrm>
          <a:prstGeom prst="oval">
            <a:avLst/>
          </a:prstGeom>
          <a:solidFill>
            <a:srgbClr val="2C2420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12080" y="3721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年终合账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12080" y="3950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对账审核·分红留利·人事评定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82896" y="4224528"/>
            <a:ext cx="18288" cy="164592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49" name="Shape 47"/>
          <p:cNvSpPr/>
          <p:nvPr/>
        </p:nvSpPr>
        <p:spPr>
          <a:xfrm>
            <a:off x="4754880" y="4370832"/>
            <a:ext cx="292608" cy="292608"/>
          </a:xfrm>
          <a:prstGeom prst="oval">
            <a:avLst/>
          </a:prstGeom>
          <a:solidFill>
            <a:srgbClr val="962B2B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0" y="4370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1208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终局结算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12080" y="4526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6种结局差异化展示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特色系统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60120"/>
            <a:ext cx="2560320" cy="54864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161288"/>
            <a:ext cx="402336" cy="402336"/>
          </a:xfrm>
          <a:prstGeom prst="oval">
            <a:avLst/>
          </a:prstGeom>
          <a:solidFill>
            <a:srgbClr val="962B2B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16736" y="116128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分号网络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618488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汉口一等分号（九省通衢）+ 张家口二等分号（口外据点），掌柜能力/忠诚/经营状态独立模拟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9601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960120"/>
            <a:ext cx="2560320" cy="54864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93592" y="1161288"/>
            <a:ext cx="402336" cy="402336"/>
          </a:xfrm>
          <a:prstGeom prst="oval">
            <a:avLst/>
          </a:prstGeom>
          <a:solidFill>
            <a:srgbClr val="C4A45A">
              <a:alpha val="8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05656" y="116128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伙友养成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93592" y="1618488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学徒季度成长（36月出师），能力&gt;80+忠诚&gt;70给分号额外加成。低忠诚有概率携款潜逃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9601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960120"/>
            <a:ext cx="2560320" cy="54864"/>
          </a:xfrm>
          <a:prstGeom prst="rect">
            <a:avLst/>
          </a:prstGeom>
          <a:solidFill>
            <a:srgbClr val="2C2420"/>
          </a:solidFill>
          <a:ln/>
        </p:spPr>
      </p:sp>
      <p:sp>
        <p:nvSpPr>
          <p:cNvPr id="18" name="Shape 16"/>
          <p:cNvSpPr/>
          <p:nvPr/>
        </p:nvSpPr>
        <p:spPr>
          <a:xfrm>
            <a:off x="6382512" y="1161288"/>
            <a:ext cx="402336" cy="402336"/>
          </a:xfrm>
          <a:prstGeom prst="oval">
            <a:avLst/>
          </a:prstGeom>
          <a:solidFill>
            <a:srgbClr val="2C2420">
              <a:alpha val="8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94576" y="116128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密押防伪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1618488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基础字码→标准双码→三码联动三级升级，密押泄漏导致信誉断崖式下跌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6517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2651760"/>
            <a:ext cx="256032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2852928"/>
            <a:ext cx="402336" cy="402336"/>
          </a:xfrm>
          <a:prstGeom prst="oval">
            <a:avLst/>
          </a:prstGeom>
          <a:solidFill>
            <a:srgbClr val="2D6A4F">
              <a:alpha val="8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16736" y="285292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事件剧情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3310128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5核心故事线+4危机自救+14季度突发事件，条件触发，多分支后果，每事件2~3选1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26517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2651760"/>
            <a:ext cx="2560320" cy="54864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30" name="Shape 28"/>
          <p:cNvSpPr/>
          <p:nvPr/>
        </p:nvSpPr>
        <p:spPr>
          <a:xfrm>
            <a:off x="3593592" y="2852928"/>
            <a:ext cx="402336" cy="402336"/>
          </a:xfrm>
          <a:prstGeom prst="oval">
            <a:avLst/>
          </a:prstGeom>
          <a:solidFill>
            <a:srgbClr val="962B2B">
              <a:alpha val="8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59359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05656" y="285292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里程碑成就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93592" y="3310128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初露锋芒/万两之槛/金字招牌等6个阶段性成就，触发时弹窗提示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6517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2651760"/>
            <a:ext cx="2560320" cy="54864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382512" y="2852928"/>
            <a:ext cx="402336" cy="402336"/>
          </a:xfrm>
          <a:prstGeom prst="oval">
            <a:avLst/>
          </a:prstGeom>
          <a:solidFill>
            <a:srgbClr val="C4A45A">
              <a:alpha val="8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8251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94576" y="285292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年度规划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82512" y="3310128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年终选择来年方向（开疆拓土/固本培元/信誉至上），下一年享有对应经营加成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结局系统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801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280160" cy="4572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234440"/>
            <a:ext cx="640080" cy="256032"/>
          </a:xfrm>
          <a:prstGeom prst="rect">
            <a:avLst/>
          </a:prstGeom>
          <a:solidFill>
            <a:srgbClr val="2D6A4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胜利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金玉满堂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总库银≥120万两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经营≥7年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1005840"/>
            <a:ext cx="12801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74520" y="1005840"/>
            <a:ext cx="128016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4560" y="1234440"/>
            <a:ext cx="640080" cy="256032"/>
          </a:xfrm>
          <a:prstGeom prst="rect">
            <a:avLst/>
          </a:prstGeom>
          <a:solidFill>
            <a:srgbClr val="2D6A4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胜利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7452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7452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守成之主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7452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坚持经营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5年不倒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005840"/>
            <a:ext cx="12801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005840"/>
            <a:ext cx="128016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Shape 18"/>
          <p:cNvSpPr/>
          <p:nvPr/>
        </p:nvSpPr>
        <p:spPr>
          <a:xfrm>
            <a:off x="3611880" y="1234440"/>
            <a:ext cx="640080" cy="256032"/>
          </a:xfrm>
          <a:prstGeom prst="rect">
            <a:avLst/>
          </a:prstGeom>
          <a:solidFill>
            <a:srgbClr val="8B8178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🎋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9184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急流勇退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信誉≥85，巅峰期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主动退隐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1005840"/>
            <a:ext cx="12801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005840"/>
            <a:ext cx="1280160" cy="45720"/>
          </a:xfrm>
          <a:prstGeom prst="rect">
            <a:avLst/>
          </a:prstGeom>
          <a:solidFill>
            <a:srgbClr val="8B8178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0" y="1234440"/>
            <a:ext cx="640080" cy="256032"/>
          </a:xfrm>
          <a:prstGeom prst="rect">
            <a:avLst/>
          </a:prstGeom>
          <a:solidFill>
            <a:srgbClr val="8B8178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70916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功成身退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916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随时手动结束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即时结算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1005840"/>
            <a:ext cx="12801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1005840"/>
            <a:ext cx="1280160" cy="45720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34" name="Shape 32"/>
          <p:cNvSpPr/>
          <p:nvPr/>
        </p:nvSpPr>
        <p:spPr>
          <a:xfrm>
            <a:off x="6446520" y="1234440"/>
            <a:ext cx="640080" cy="256032"/>
          </a:xfrm>
          <a:prstGeom prst="rect">
            <a:avLst/>
          </a:prstGeom>
          <a:solidFill>
            <a:srgbClr val="962B2B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12648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惨淡收场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2648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总库银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耗尽归零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43800" y="1005840"/>
            <a:ext cx="12801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43800" y="1005840"/>
            <a:ext cx="1280160" cy="45720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41" name="Shape 39"/>
          <p:cNvSpPr/>
          <p:nvPr/>
        </p:nvSpPr>
        <p:spPr>
          <a:xfrm>
            <a:off x="7863840" y="1234440"/>
            <a:ext cx="640080" cy="256032"/>
          </a:xfrm>
          <a:prstGeom prst="rect">
            <a:avLst/>
          </a:prstGeom>
          <a:solidFill>
            <a:srgbClr val="962B2B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86384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4380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📛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5438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晚节不保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54380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信誉崩盘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身败名裂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技术亮点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60120"/>
            <a:ext cx="3931920" cy="54864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161288"/>
            <a:ext cx="402336" cy="402336"/>
          </a:xfrm>
          <a:prstGeom prst="oval">
            <a:avLst/>
          </a:prstGeom>
          <a:solidFill>
            <a:srgbClr val="962B2B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6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16736" y="116128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程序化古筝 BGM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618488"/>
            <a:ext cx="36027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 实时合成五声音阶（宫商角徵羽），三角波模拟古筝拨弦泛音，4种主题自动切换，零外部文件、免版权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60120"/>
            <a:ext cx="3931920" cy="54864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12" name="Shape 10"/>
          <p:cNvSpPr/>
          <p:nvPr/>
        </p:nvSpPr>
        <p:spPr>
          <a:xfrm>
            <a:off x="4965192" y="1161288"/>
            <a:ext cx="402336" cy="402336"/>
          </a:xfrm>
          <a:prstGeom prst="oval">
            <a:avLst/>
          </a:prstGeom>
          <a:solidFill>
            <a:srgbClr val="C4A45A">
              <a:alpha val="8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65192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77256" y="116128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 三层安全体系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1618488"/>
            <a:ext cx="36027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存档16位哈希签名防篡改 + 云端PBKDF2-SHA256认证（10万次迭代+随机盐）+ 操作行为异常检测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880360"/>
            <a:ext cx="393192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3081528"/>
            <a:ext cx="402336" cy="402336"/>
          </a:xfrm>
          <a:prstGeom prst="oval">
            <a:avLst/>
          </a:prstGeom>
          <a:solidFill>
            <a:srgbClr val="2D6A4F">
              <a:alpha val="8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308152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纯函数引擎架构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3538728"/>
            <a:ext cx="36027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engine/目录 2,968 行全部为无副作用纯函数，与 UI 完全解耦。useReducer+Context 管理 28 种 Action 类型全局状态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88036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880360"/>
            <a:ext cx="3931920" cy="54864"/>
          </a:xfrm>
          <a:prstGeom prst="rect">
            <a:avLst/>
          </a:prstGeom>
          <a:solidFill>
            <a:srgbClr val="2C2420"/>
          </a:solidFill>
          <a:ln/>
        </p:spPr>
      </p:sp>
      <p:sp>
        <p:nvSpPr>
          <p:cNvPr id="24" name="Shape 22"/>
          <p:cNvSpPr/>
          <p:nvPr/>
        </p:nvSpPr>
        <p:spPr>
          <a:xfrm>
            <a:off x="4965192" y="3081528"/>
            <a:ext cx="402336" cy="402336"/>
          </a:xfrm>
          <a:prstGeom prst="oval">
            <a:avLst/>
          </a:prstGeom>
          <a:solidFill>
            <a:srgbClr val="2C2420">
              <a:alpha val="8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65192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77256" y="308152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极致轻量部署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65192" y="3538728"/>
            <a:ext cx="36027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 2 个运行时依赖（React 18 + ReactDOM），构建产物 gzip 仅 106KB。EdgeOne Pages 全球 CDN 一键部署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项目数据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920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6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TS/TSX 源文件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960120"/>
            <a:ext cx="1920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A4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9,400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6032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总代码行数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1920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运行时依赖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20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24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106 KB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构建体积 (gzip)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代码模块分布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606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engine/ 核心引擎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6060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6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2679192"/>
            <a:ext cx="1188720" cy="109728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7520" y="2679192"/>
            <a:ext cx="1083833" cy="109728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17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 UI组件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017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4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3090672"/>
            <a:ext cx="1188720" cy="109728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24" name="Shape 22"/>
          <p:cNvSpPr/>
          <p:nvPr/>
        </p:nvSpPr>
        <p:spPr>
          <a:xfrm>
            <a:off x="3017520" y="3090672"/>
            <a:ext cx="1188720" cy="109728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29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游戏数据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34290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17520" y="3502152"/>
            <a:ext cx="1188720" cy="109728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28" name="Shape 26"/>
          <p:cNvSpPr/>
          <p:nvPr/>
        </p:nvSpPr>
        <p:spPr>
          <a:xfrm>
            <a:off x="3017520" y="3502152"/>
            <a:ext cx="454511" cy="10972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 工具函数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38404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4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3913632"/>
            <a:ext cx="1188720" cy="109728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32" name="Shape 30"/>
          <p:cNvSpPr/>
          <p:nvPr/>
        </p:nvSpPr>
        <p:spPr>
          <a:xfrm>
            <a:off x="3017520" y="3913632"/>
            <a:ext cx="384586" cy="109728"/>
          </a:xfrm>
          <a:prstGeom prst="rect">
            <a:avLst/>
          </a:prstGeom>
          <a:solidFill>
            <a:srgbClr val="2C242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251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 + types/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0" y="42519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1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4325112"/>
            <a:ext cx="1188720" cy="109728"/>
          </a:xfrm>
          <a:prstGeom prst="rect">
            <a:avLst/>
          </a:prstGeom>
          <a:solidFill>
            <a:srgbClr val="D9D0C1"/>
          </a:solidFill>
          <a:ln/>
        </p:spPr>
      </p:sp>
      <p:sp>
        <p:nvSpPr>
          <p:cNvPr id="36" name="Shape 34"/>
          <p:cNvSpPr/>
          <p:nvPr/>
        </p:nvSpPr>
        <p:spPr>
          <a:xfrm>
            <a:off x="3017520" y="4325112"/>
            <a:ext cx="384586" cy="109728"/>
          </a:xfrm>
          <a:prstGeom prst="rect">
            <a:avLst/>
          </a:prstGeom>
          <a:solidFill>
            <a:srgbClr val="8B8178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846320" y="2624328"/>
            <a:ext cx="36576" cy="219456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2606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框架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035808"/>
            <a:ext cx="36576" cy="219456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类型系统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447288"/>
            <a:ext cx="36576" cy="219456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429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5.4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9224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构建工具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3858768"/>
            <a:ext cx="36576" cy="219456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9224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程序化古筝 BGM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270248"/>
            <a:ext cx="36576" cy="219456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0" y="4251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EdgeOne Pages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92240" y="4251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全栈部署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4681728"/>
            <a:ext cx="36576" cy="219456"/>
          </a:xfrm>
          <a:prstGeom prst="rect">
            <a:avLst/>
          </a:prstGeom>
          <a:solidFill>
            <a:srgbClr val="962B2B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0" y="4663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92240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多用户存档隔离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汇通天下，青史留名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926080" y="1965960"/>
            <a:ext cx="3291840" cy="13716"/>
          </a:xfrm>
          <a:prstGeom prst="rect">
            <a:avLst/>
          </a:prstGeom>
          <a:solidFill>
            <a:srgbClr val="C4A45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《晋·信》— 一盏油灯，一方算盘，一间青砖灰瓦的票号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0" y="3017520"/>
            <a:ext cx="5120640" cy="914400"/>
          </a:xfrm>
          <a:prstGeom prst="rect">
            <a:avLst/>
          </a:prstGeom>
          <a:solidFill>
            <a:srgbClr val="2C2420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立即体验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3383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jinxin-twlhpwzz.edgeone.cool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github.com/szm20060312/jinxin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《晋·信》作品介绍</dc:title>
  <dc:subject>PptxGenJS Presentation</dc:subject>
  <dc:creator>《晋·信》开发团队</dc:creator>
  <cp:lastModifiedBy>《晋·信》开发团队</cp:lastModifiedBy>
  <cp:revision>1</cp:revision>
  <dcterms:created xsi:type="dcterms:W3CDTF">2026-06-28T14:38:06Z</dcterms:created>
  <dcterms:modified xsi:type="dcterms:W3CDTF">2026-06-28T14:38:06Z</dcterms:modified>
</cp:coreProperties>
</file>